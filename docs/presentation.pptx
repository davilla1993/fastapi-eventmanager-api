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768" y="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80" y="6980"/>
            <a:ext cx="12188952" cy="685800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API de Gestion
d'Événements Culturels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31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8BCC"/>
                </a:solidFill>
              </a:rPr>
              <a:t>Master 1 Intelligence Artificielle &amp; Big Data — Projet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2120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55657A"/>
                </a:solidFill>
              </a:rPr>
              <a:t>Folly S. Carlo GBOSSOU </a:t>
            </a:r>
            <a:endParaRPr lang="fr-FR" sz="1600" b="0" i="0" dirty="0">
              <a:solidFill>
                <a:srgbClr val="55657A"/>
              </a:solidFill>
            </a:endParaRPr>
          </a:p>
          <a:p>
            <a:pPr algn="l"/>
            <a:r>
              <a:rPr lang="fr-FR" sz="1600" dirty="0">
                <a:solidFill>
                  <a:srgbClr val="55657A"/>
                </a:solidFill>
              </a:rPr>
              <a:t>ADJAVOU Jonas</a:t>
            </a:r>
            <a:endParaRPr sz="1600" b="0" i="0" dirty="0">
              <a:solidFill>
                <a:srgbClr val="55657A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8BCC"/>
                </a:solidFill>
              </a:rPr>
              <a:t>events-api.gfolly.com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1097280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Contexte &amp; Objectifs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Architecture DDD Lite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Stack Technique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Types Pydantic v2 Personnalisés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Polymorphisme des Événements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Filtres, Tri &amp; Pagination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Sécurité JWT &amp; RBAC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Audit Trail &amp; Logs JSON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Tests &amp; Couverture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Déploiement Docker &amp; CI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08BCC"/>
                </a:solidFill>
              </a:rPr>
              <a:t>▸  Démo Live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1097280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CC"/>
                </a:solidFill>
              </a:rPr>
              <a:t>01 / CONTEXTE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Contexte &amp; Objectifs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API REST publique destinée à des développeurs tiers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Gestion de concerts, pièces de théâtre et conférences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Validation rigoureuse, polymorphisme, audit trail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0F294D"/>
                </a:solidFill>
              </a:rPr>
              <a:t>▸  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Exigences techniques imposées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FastAPI + Pydantic v2 + PostgreSQL + Hypothesis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Types personnalisés : Slug, URLImage, CodePostalFR, TelephoneE164, IBAN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Polymorphisme par discriminator field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0F294D"/>
                </a:solidFill>
              </a:rPr>
              <a:t>▸  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27AE60"/>
                </a:solidFill>
              </a:rPr>
              <a:t>▸  Résultats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27AE60"/>
                </a:solidFill>
              </a:rPr>
              <a:t>    •  24 endpoints · 5 modules · 12 phases · déployé en production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1097280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CC"/>
                </a:solidFill>
              </a:rPr>
              <a:t>02 /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Architecture DDD 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5 modules métier indépendants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iam  ·  events  ·  organizers  ·  venues  ·  categories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0F294D"/>
                </a:solidFill>
              </a:rPr>
              <a:t>▸  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4 couches par module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domain  — entités, règles, interfaces repositories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application  — UseCases, mappers (zéro dépendance technique)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api  — contrôleurs FastAPI, DTOs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infrastructure  — implémentations SQLAlchemy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0F294D"/>
                </a:solidFill>
              </a:rPr>
              <a:t>▸  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Règle de dépendances stricte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08BCC"/>
                </a:solidFill>
              </a:rPr>
              <a:t>    •  api → application → domain  ←  infrastructure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Le domaine ne connaît aucune technologie externe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1234440"/>
            <a:ext cx="6126480" cy="53949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89320" y="1371600"/>
            <a:ext cx="5852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F3FF"/>
                </a:solidFill>
              </a:rPr>
              <a:t>app/
├── modules/
│   ├── iam/
│   │   ├── domain/
│   │   ├── application/
│   │   ├── api/
│   │   └── infrastructure/
│   ├── events/
│   ├── organizers/
│   ├── venues/
│   └── categories/
├── shared/
│   ├── types/
│   ├── pagination/
│   └── exceptions/
└── infrastructure/
    ├── security/
    ├── logging/
    └── audit/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1097280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CC"/>
                </a:solidFill>
              </a:rPr>
              <a:t>03 /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Stack Technique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5577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 b="1">
                <a:solidFill>
                  <a:srgbClr val="008BCC"/>
                </a:solidFill>
              </a:rPr>
              <a:t>▸  Backend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FastAPI 0.115+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Pydantic v2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SQLAlchemy 2 (async)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asyncpg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Alembic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0F294D"/>
                </a:solidFill>
              </a:rPr>
              <a:t>▸  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08BCC"/>
                </a:solidFill>
              </a:rPr>
              <a:t>▸  Sécurité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JWT (python-jose)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bcrypt (passlib)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0F294D"/>
                </a:solidFill>
              </a:rPr>
              <a:t>▸  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08BCC"/>
                </a:solidFill>
              </a:rPr>
              <a:t>▸  Base de données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PostgreSQL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280160"/>
            <a:ext cx="27432" cy="5303520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72200" y="123444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 b="1">
                <a:solidFill>
                  <a:srgbClr val="008BCC"/>
                </a:solidFill>
              </a:rPr>
              <a:t>▸  Qualité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Ruff  (200+ règles lint)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Black  (formatage)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MyPy  (strict)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0F294D"/>
                </a:solidFill>
              </a:rPr>
              <a:t>▸  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08BCC"/>
                </a:solidFill>
              </a:rPr>
              <a:t>▸  Tests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pytest + pytest-asyncio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pytest-cov  (seuil 80 %)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Hypothesis  (property-based)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0F294D"/>
                </a:solidFill>
              </a:rPr>
              <a:t>▸  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08BCC"/>
                </a:solidFill>
              </a:rPr>
              <a:t>▸  Déploiement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Docker + Coolify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GitHub Actions CI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1097280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CC"/>
                </a:solidFill>
              </a:rPr>
              <a:t>04 / TYPES PERSONNALISÉS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Types Pydantic v2 Personnalisés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 b="1">
                <a:solidFill>
                  <a:srgbClr val="008BCC"/>
                </a:solidFill>
              </a:rPr>
              <a:t>▸  Slug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Regex ^[a-z0-9]+(?:-[a-z0-9]+)*$  — identifiant URL-safe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08BCC"/>
                </a:solidFill>
              </a:rPr>
              <a:t>▸  URLImage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HTTPS obligatoire · extensions jpg / jpeg / png / webp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08BCC"/>
                </a:solidFill>
              </a:rPr>
              <a:t>▸  CodePostalFR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5 chiffres · département 01–95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08BCC"/>
                </a:solidFill>
              </a:rPr>
              <a:t>▸  TelephoneE164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Format international +&lt;indicatif&gt;&lt;numéro&gt; · 8–15 chiffres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08BCC"/>
                </a:solidFill>
              </a:rPr>
              <a:t>▸  IBAN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Longueur par pays + checksum algorithme MOD-97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1234440"/>
            <a:ext cx="6126480" cy="53949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89320" y="1371600"/>
            <a:ext cx="5852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F3FF"/>
                </a:solidFill>
              </a:rPr>
              <a:t>class Slug(str):
  @classmethod
  def __get_pydantic_core_schema__(
    cls, source_type, handler
  ) -&gt; CoreSchema:
    return core_schema\
      .no_info_after_validator_function(
        cls._validate,
        core_schema.str_schema(),
        serialization=
          plain_serializer_function
          _ser_schema(str),
    )
  @classmethod
  def _validate(cls, v: str):
    if not _SLUG_RE.match(v):
      raise ValueError(...)
    return cls(v)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1097280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CC"/>
                </a:solidFill>
              </a:rPr>
              <a:t>05 / POLYMORPHISME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Polymorphisme des Événements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Discriminator field  event_type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Pydantic sélectionne le bon schéma à la désérialisation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FastAPI génère 3 exemples distincts dans Swagger UI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0F294D"/>
                </a:solidFill>
              </a:rPr>
              <a:t>▸  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27AE60"/>
                </a:solidFill>
              </a:rPr>
              <a:t>▸  Concert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artist · genre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E67E22"/>
                </a:solidFill>
              </a:rPr>
              <a:t>▸  Theatre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director · cast_members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08BCC"/>
                </a:solidFill>
              </a:rPr>
              <a:t>▸  Conference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speaker · topic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0F294D"/>
                </a:solidFill>
              </a:rPr>
              <a:t>▸  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55657A"/>
                </a:solidFill>
              </a:rPr>
              <a:t>▸  Table unique en base (STI) — colonnes spécifiques nullables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1234440"/>
            <a:ext cx="6126480" cy="53949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89320" y="1371600"/>
            <a:ext cx="5852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F3FF"/>
                </a:solidFill>
              </a:rPr>
              <a:t>EventCreate = Annotated[
  ConcertCreate
  | TheatreCreate
  | ConferenceCreate,
  Field(discriminator=
        'event_type'),
]
# Contrôleur FastAPI
_Body = Annotated[
  ConcertCreate
  | TheatreCreate
  | ConferenceCreate,
  Body(discriminator=
       'event_type'),
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1097280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CC"/>
                </a:solidFill>
              </a:rPr>
              <a:t>06 / FILTRES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Filtres Avancés, Tri &amp; Pagination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8 filtres cumulables sur GET /api/v1/events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city · event_type · category_public_id · organizer_public_id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date_min · date_max · price_max · tags (CSV, ILIKE cumulatif)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0F294D"/>
                </a:solidFill>
              </a:rPr>
              <a:t>▸  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Tri configurable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sort_by : start_at | price | title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sort_order : asc | desc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0F294D"/>
                </a:solidFill>
              </a:rPr>
              <a:t>▸  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Pagination SQL (LIMIT / OFFSET)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Retourne total, page, size, items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1234440"/>
            <a:ext cx="6126480" cy="53949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89320" y="1371600"/>
            <a:ext cx="5852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F3FF"/>
                </a:solidFill>
              </a:rPr>
              <a:t>GET /api/v1/events
  ?city=Paris
  &amp;event_type=concert
  &amp;price_max=50
  &amp;tags=jazz,bebop
  &amp;sort_by=start_at
  &amp;sort_order=asc
  &amp;page=1
  &amp;size=20
{
  "total": 42,
  "page": 1,
  "size": 20,
  "items": [...]
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1097280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CC"/>
                </a:solidFill>
              </a:rPr>
              <a:t>07 / SÉCURITÉ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Sécurité JWT &amp; RBAC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5577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 b="1">
                <a:solidFill>
                  <a:srgbClr val="008BCC"/>
                </a:solidFill>
              </a:rPr>
              <a:t>▸  Authentification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JWT HS256 · expiration configurable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Mots de passe hachés bcrypt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Aucun secret en clair dans le dépôt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0F294D"/>
                </a:solidFill>
              </a:rPr>
              <a:t>▸  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08BCC"/>
                </a:solidFill>
              </a:rPr>
              <a:t>▸  Rôles (RBAC)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USER — lecture publique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ORGANIZER — CRUD ses événements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ADMIN — accès complet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0F294D"/>
                </a:solidFill>
              </a:rPr>
              <a:t>▸  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08BCC"/>
                </a:solidFill>
              </a:rPr>
              <a:t>▸  Validation des entrées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extra='forbid' — champs inconnus rejetés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Soft delete — données préservées pour l'audit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280160"/>
            <a:ext cx="27432" cy="5303520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72200" y="123444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 b="1">
                <a:solidFill>
                  <a:srgbClr val="008BCC"/>
                </a:solidFill>
              </a:rPr>
              <a:t>▸  Dépendances FastAPI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get_current_user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require_organizer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require_admin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0F294D"/>
                </a:solidFill>
              </a:rPr>
              <a:t>▸  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08BCC"/>
                </a:solidFill>
              </a:rPr>
              <a:t>▸  Flux d'authentification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POST /auth/register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POST /auth/login → token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Authorization: Bearer …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GET  /auth/me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1097280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CC"/>
                </a:solidFill>
              </a:rPr>
              <a:t>08 / AUDIT &amp; LOGS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Audit Trail &amp; Logs 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Traçabilité double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Table audit_logs en base (entity_type, action, actor, timestamp)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Log JSON sur stdout — ingérable par Loki / Elasticsearch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0F294D"/>
                </a:solidFill>
              </a:rPr>
              <a:t>▸  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Déclenchement automatique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Toute opération CREATE · UPDATE · DELETE est auditée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Via AuditService injecté dans chaque UseCase concerné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1234440"/>
            <a:ext cx="6126480" cy="53949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89320" y="1371600"/>
            <a:ext cx="5852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F3FF"/>
                </a:solidFill>
              </a:rPr>
              <a:t>{
  "timestamp":
    "2025-07-14T18:30:00+00:00",
  "level": "INFO",
  "logger": "audit",
  "message": "audit",
  "entity_type": "event",
  "entity_public_id":
    "550e8400-…",
  "action": "CREATE",
  "actor":
    "a3f2c1d0-…"
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1097280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CC"/>
                </a:solidFill>
              </a:rPr>
              <a:t>09 /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Tests &amp; Couverture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5577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 b="1">
                <a:solidFill>
                  <a:srgbClr val="008BCC"/>
                </a:solidFill>
              </a:rPr>
              <a:t>▸  3 niveaux de tests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0F294D"/>
                </a:solidFill>
              </a:rPr>
              <a:t>▸  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Tests unitaires (tests/unit/)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5 types personnalisés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UseCases : events, venues,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categories, organizers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0F294D"/>
                </a:solidFill>
              </a:rPr>
              <a:t>▸  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Tests d'intégration (tests/integration/)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6 fichiers — tous les endpoints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auth · events · organizers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venues · categories · health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0F294D"/>
                </a:solidFill>
              </a:rPr>
              <a:t>▸  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Tests property-based (tests/property/)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Hypothesis · 10 tests · 200 exemples/type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280160"/>
            <a:ext cx="27432" cy="5303520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72200" y="123444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 b="1">
                <a:solidFill>
                  <a:srgbClr val="008BCC"/>
                </a:solidFill>
              </a:rPr>
              <a:t>▸  Métriques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27AE60"/>
                </a:solidFill>
              </a:rPr>
              <a:t>    •  Seuil configuré : 80 %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11 fichiers de tests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0F294D"/>
                </a:solidFill>
              </a:rPr>
              <a:t>▸  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Hypothesis — exemple IBAN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Génère des IBANs FR valides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avec checksum MOD-97 correct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Vérifie rejet des checksums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invalides (filter_too_much)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0F294D"/>
                </a:solidFill>
              </a:rPr>
              <a:t>▸  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Config pytest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asyncio_mode = auto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NullPool — pas de conflit</a:t>
            </a:r>
          </a:p>
          <a:p>
            <a:pPr lvl="1">
              <a:spcBef>
                <a:spcPts val="200"/>
              </a:spcBef>
            </a:pPr>
            <a:r>
              <a:rPr sz="1600" b="0">
                <a:solidFill>
                  <a:srgbClr val="0F294D"/>
                </a:solidFill>
              </a:rPr>
              <a:t>    •  de boucle asyncio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1097280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CC"/>
                </a:solidFill>
              </a:rPr>
              <a:t>10 / DÉPLOIEMENT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Déploiement Docker &amp; 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5577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 b="1">
                <a:solidFill>
                  <a:srgbClr val="008BCC"/>
                </a:solidFill>
              </a:rPr>
              <a:t>▸  Docker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python:3.13-slim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alembic upgrade head au démarrage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0F294D"/>
                </a:solidFill>
              </a:rPr>
              <a:t>▸  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docker-compose.local.yml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PostgreSQL 16 Alpine intégré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Health check + depends_on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Lancement : docker compose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  -f docker-compose.local.yml up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0F294D"/>
                </a:solidFill>
              </a:rPr>
              <a:t>▸  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Production — Coolify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PaaS auto-hébergé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HTTPS automatique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08BCC"/>
                </a:solidFill>
              </a:rPr>
              <a:t>    •  events-api.gfolly.com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280160"/>
            <a:ext cx="27432" cy="5303520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72200" y="123444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 b="1">
                <a:solidFill>
                  <a:srgbClr val="008BCC"/>
                </a:solidFill>
              </a:rPr>
              <a:t>▸  GitHub Actions CI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0F294D"/>
                </a:solidFill>
              </a:rPr>
              <a:t>▸  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Job 1 — Lint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ruff check app/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black --check app/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0F294D"/>
                </a:solidFill>
              </a:rPr>
              <a:t>▸  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Job 2 — Test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Service PostgreSQL 16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alembic upgrade head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pytest + coverage XML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Upload Codecov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0F294D"/>
                </a:solidFill>
              </a:rPr>
              <a:t>▸  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Job 3 — Docker Build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docker build -t … 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CC"/>
                </a:solidFill>
              </a:rPr>
              <a:t>11 / DÉMO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Démo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931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8BCC"/>
                </a:solidFill>
              </a:rPr>
              <a:t>events-api.gfolly.com/docs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749039"/>
            <a:ext cx="109728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fr-FR" sz="1900" b="0" i="0" dirty="0">
              <a:solidFill>
                <a:srgbClr val="E8F4FD"/>
              </a:solidFill>
            </a:endParaRPr>
          </a:p>
          <a:p>
            <a:pPr algn="l"/>
            <a:endParaRPr lang="fr-FR" sz="1900" dirty="0">
              <a:solidFill>
                <a:srgbClr val="E8F4FD"/>
              </a:solidFill>
            </a:endParaRPr>
          </a:p>
          <a:p>
            <a:pPr algn="l"/>
            <a:r>
              <a:rPr sz="1900" b="0" i="0" dirty="0">
                <a:solidFill>
                  <a:srgbClr val="E8F4FD"/>
                </a:solidFill>
              </a:rPr>
              <a:t>1. Register · Login · /auth/me
2. </a:t>
            </a:r>
            <a:r>
              <a:rPr sz="1900" b="0" i="0" dirty="0" err="1">
                <a:solidFill>
                  <a:srgbClr val="E8F4FD"/>
                </a:solidFill>
              </a:rPr>
              <a:t>Créer</a:t>
            </a:r>
            <a:r>
              <a:rPr sz="1900" b="0" i="0" dirty="0">
                <a:solidFill>
                  <a:srgbClr val="E8F4FD"/>
                </a:solidFill>
              </a:rPr>
              <a:t> </a:t>
            </a:r>
            <a:r>
              <a:rPr sz="1900" b="0" i="0" dirty="0" err="1">
                <a:solidFill>
                  <a:srgbClr val="E8F4FD"/>
                </a:solidFill>
              </a:rPr>
              <a:t>une</a:t>
            </a:r>
            <a:r>
              <a:rPr sz="1900" b="0" i="0" dirty="0">
                <a:solidFill>
                  <a:srgbClr val="E8F4FD"/>
                </a:solidFill>
              </a:rPr>
              <a:t> </a:t>
            </a:r>
            <a:r>
              <a:rPr sz="1900" b="0" i="0" dirty="0" err="1">
                <a:solidFill>
                  <a:srgbClr val="E8F4FD"/>
                </a:solidFill>
              </a:rPr>
              <a:t>catégorie</a:t>
            </a:r>
            <a:r>
              <a:rPr sz="1900" b="0" i="0" dirty="0">
                <a:solidFill>
                  <a:srgbClr val="E8F4FD"/>
                </a:solidFill>
              </a:rPr>
              <a:t>, </a:t>
            </a:r>
            <a:r>
              <a:rPr sz="1900" b="0" i="0" dirty="0" err="1">
                <a:solidFill>
                  <a:srgbClr val="E8F4FD"/>
                </a:solidFill>
              </a:rPr>
              <a:t>une</a:t>
            </a:r>
            <a:r>
              <a:rPr sz="1900" b="0" i="0" dirty="0">
                <a:solidFill>
                  <a:srgbClr val="E8F4FD"/>
                </a:solidFill>
              </a:rPr>
              <a:t> salle, un </a:t>
            </a:r>
            <a:r>
              <a:rPr sz="1900" b="0" i="0" dirty="0" err="1">
                <a:solidFill>
                  <a:srgbClr val="E8F4FD"/>
                </a:solidFill>
              </a:rPr>
              <a:t>organisateur</a:t>
            </a:r>
            <a:r>
              <a:rPr sz="1900" b="0" i="0" dirty="0">
                <a:solidFill>
                  <a:srgbClr val="E8F4FD"/>
                </a:solidFill>
              </a:rPr>
              <a:t>
3. </a:t>
            </a:r>
            <a:r>
              <a:rPr sz="1900" b="0" i="0" dirty="0" err="1">
                <a:solidFill>
                  <a:srgbClr val="E8F4FD"/>
                </a:solidFill>
              </a:rPr>
              <a:t>Créer</a:t>
            </a:r>
            <a:r>
              <a:rPr sz="1900" b="0" i="0" dirty="0">
                <a:solidFill>
                  <a:srgbClr val="E8F4FD"/>
                </a:solidFill>
              </a:rPr>
              <a:t> un Concert · un Théâtre · </a:t>
            </a:r>
            <a:r>
              <a:rPr sz="1900" b="0" i="0" dirty="0" err="1">
                <a:solidFill>
                  <a:srgbClr val="E8F4FD"/>
                </a:solidFill>
              </a:rPr>
              <a:t>une</a:t>
            </a:r>
            <a:r>
              <a:rPr sz="1900" b="0" i="0" dirty="0">
                <a:solidFill>
                  <a:srgbClr val="E8F4FD"/>
                </a:solidFill>
              </a:rPr>
              <a:t> </a:t>
            </a:r>
            <a:r>
              <a:rPr sz="1900" b="0" i="0" dirty="0" err="1">
                <a:solidFill>
                  <a:srgbClr val="E8F4FD"/>
                </a:solidFill>
              </a:rPr>
              <a:t>Conférence</a:t>
            </a:r>
            <a:r>
              <a:rPr sz="1900" b="0" i="0" dirty="0">
                <a:solidFill>
                  <a:srgbClr val="E8F4FD"/>
                </a:solidFill>
              </a:rPr>
              <a:t>
4. </a:t>
            </a:r>
            <a:r>
              <a:rPr sz="1900" b="0" i="0" dirty="0" err="1">
                <a:solidFill>
                  <a:srgbClr val="E8F4FD"/>
                </a:solidFill>
              </a:rPr>
              <a:t>Filtres</a:t>
            </a:r>
            <a:r>
              <a:rPr sz="1900" b="0" i="0" dirty="0">
                <a:solidFill>
                  <a:srgbClr val="E8F4FD"/>
                </a:solidFill>
              </a:rPr>
              <a:t> : city=Paris &amp; </a:t>
            </a:r>
            <a:r>
              <a:rPr sz="1900" b="0" i="0" dirty="0" err="1">
                <a:solidFill>
                  <a:srgbClr val="E8F4FD"/>
                </a:solidFill>
              </a:rPr>
              <a:t>event_type</a:t>
            </a:r>
            <a:r>
              <a:rPr sz="1900" b="0" i="0" dirty="0">
                <a:solidFill>
                  <a:srgbClr val="E8F4FD"/>
                </a:solidFill>
              </a:rPr>
              <a:t>=concert &amp; </a:t>
            </a:r>
            <a:r>
              <a:rPr sz="1900" b="0" i="0" dirty="0" err="1">
                <a:solidFill>
                  <a:srgbClr val="E8F4FD"/>
                </a:solidFill>
              </a:rPr>
              <a:t>price_max</a:t>
            </a:r>
            <a:r>
              <a:rPr sz="1900" b="0" i="0" dirty="0">
                <a:solidFill>
                  <a:srgbClr val="E8F4FD"/>
                </a:solidFill>
              </a:rPr>
              <a:t>=50
5. </a:t>
            </a:r>
            <a:r>
              <a:rPr sz="1900" b="0" i="0" dirty="0" err="1">
                <a:solidFill>
                  <a:srgbClr val="E8F4FD"/>
                </a:solidFill>
              </a:rPr>
              <a:t>Valider</a:t>
            </a:r>
            <a:r>
              <a:rPr sz="1900" b="0" i="0" dirty="0">
                <a:solidFill>
                  <a:srgbClr val="E8F4FD"/>
                </a:solidFill>
              </a:rPr>
              <a:t> le </a:t>
            </a:r>
            <a:r>
              <a:rPr sz="1900" b="0" i="0" dirty="0" err="1">
                <a:solidFill>
                  <a:srgbClr val="E8F4FD"/>
                </a:solidFill>
              </a:rPr>
              <a:t>rejet</a:t>
            </a:r>
            <a:r>
              <a:rPr sz="1900" b="0" i="0" dirty="0">
                <a:solidFill>
                  <a:srgbClr val="E8F4FD"/>
                </a:solidFill>
              </a:rPr>
              <a:t> d'un slug </a:t>
            </a:r>
            <a:r>
              <a:rPr sz="1900" b="0" i="0" dirty="0" err="1">
                <a:solidFill>
                  <a:srgbClr val="E8F4FD"/>
                </a:solidFill>
              </a:rPr>
              <a:t>invalide</a:t>
            </a:r>
            <a:r>
              <a:rPr sz="1900" b="0" i="0" dirty="0">
                <a:solidFill>
                  <a:srgbClr val="E8F4FD"/>
                </a:solidFill>
              </a:rPr>
              <a:t> (422)
6. Consulter les logs JSON et </a:t>
            </a:r>
            <a:r>
              <a:rPr sz="1900" b="0" i="0" dirty="0" err="1">
                <a:solidFill>
                  <a:srgbClr val="E8F4FD"/>
                </a:solidFill>
              </a:rPr>
              <a:t>l'audit</a:t>
            </a:r>
            <a:r>
              <a:rPr sz="1900" b="0" i="0" dirty="0">
                <a:solidFill>
                  <a:srgbClr val="E8F4FD"/>
                </a:solidFill>
              </a:rPr>
              <a:t> trail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1097280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CC"/>
                </a:solidFill>
              </a:rPr>
              <a:t>12 / 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Difficultés Rencontrées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5214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API Pydantic v2 pour les types personnalisés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__get_pydantic_core_schema__ remplace __get_validators__ (v1)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Nécessite CoreSchema + serializer explicite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0F294D"/>
                </a:solidFill>
              </a:rPr>
              <a:t>▸  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Discriminator FastAPI ≠ Discriminator Pydantic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Body(discriminator=…) requis en plus de Field(discriminator=…)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0F294D"/>
                </a:solidFill>
              </a:rPr>
              <a:t>▸  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Tests asyncio avec pytest-asyncio 0.24+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asyncio_default_fixture_loop_scope = 'session' + NullPool obligatoire</a:t>
            </a:r>
          </a:p>
          <a:p>
            <a:pPr>
              <a:spcBef>
                <a:spcPts val="400"/>
              </a:spcBef>
            </a:pPr>
            <a:r>
              <a:rPr sz="1900" b="0">
                <a:solidFill>
                  <a:srgbClr val="0F294D"/>
                </a:solidFill>
              </a:rPr>
              <a:t>▸  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0F294D"/>
                </a:solidFill>
              </a:rPr>
              <a:t>▸  Génération d'IBANs valides pour Hypothesis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0F294D"/>
                </a:solidFill>
              </a:rPr>
              <a:t>    •  Stratégie composée : BBAN aléatoire → calcul checksum MOD-97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8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CC"/>
                </a:solidFill>
              </a:rPr>
              <a:t>13 /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Conclusion &amp;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4FD"/>
                </a:solidFill>
              </a:rPr>
              <a:t>✓  Architecture DDD Lite — domaine indépendant de toute technologie
✓  5 types Pydantic v2 personnalisés avec validation rigoureuse
✓  Polymorphisme discriminator — 3 types d'événements
✓  Tests unitaires · intégration · Hypothesis (seuil 80 %)
✓  Audit trail + logs JSON structurés
✓  CI GitHub Actions · Docker · déployé en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577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5657A"/>
                </a:solidFill>
              </a:rPr>
              <a:t>Perspectives : rate limiting · refresh tokens · recherche full-text · cache Redis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1859</Words>
  <Application>Microsoft Office PowerPoint</Application>
  <PresentationFormat>Custom</PresentationFormat>
  <Paragraphs>233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Folly Sitou Carlo GBOSSOU</cp:lastModifiedBy>
  <cp:revision>3</cp:revision>
  <dcterms:created xsi:type="dcterms:W3CDTF">2013-01-27T09:14:16Z</dcterms:created>
  <dcterms:modified xsi:type="dcterms:W3CDTF">2026-06-22T17:03:32Z</dcterms:modified>
  <cp:category/>
</cp:coreProperties>
</file>